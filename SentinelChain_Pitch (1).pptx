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DCE9E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DCE9ED"/>
                </a:solidFill>
                <a:latin typeface="Arial"/>
              </a:rPr>
              <a:t>Where the savings come from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Savings vs. hold</c:v>
                </c:pt>
              </c:strCache>
            </c:strRef>
          </c:tx>
          <c:spPr>
            <a:solidFill>
              <a:srgbClr val="2DBE7E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DCE9ED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Air shift</c:v>
                  </c:pt>
                  <c:pt idx="1">
                    <c:v>Physical reroute</c:v>
                  </c:pt>
                  <c:pt idx="2">
                    <c:v>Road shift</c:v>
                  </c:pt>
                  <c:pt idx="3">
                    <c:v>Ocean swap</c:v>
                  </c:pt>
                  <c:pt idx="4">
                    <c:v>Rail shift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3220520</c:v>
                </c:pt>
                <c:pt idx="1">
                  <c:v>99640</c:v>
                </c:pt>
                <c:pt idx="2">
                  <c:v>58505</c:v>
                </c:pt>
                <c:pt idx="3">
                  <c:v>3118</c:v>
                </c:pt>
                <c:pt idx="4">
                  <c:v>35100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900" u="none">
                  <a:solidFill>
                    <a:srgbClr val="DCE9ED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EA0A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4759"/>
              </a:solidFill>
              <a:prstDash val="solid"/>
              <a:round/>
            </a:ln>
          </c:spPr>
        </c:majorGridlines>
        <c:numFmt formatCode="$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EA0AD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6161E"/>
        </a:solidFill>
        <a:ln>
          <a:noFill/>
        </a:ln>
        <a:effectLst/>
      </c:spPr>
    </c:plotArea>
    <c:plotVisOnly val="1"/>
    <c:dispBlanksAs val="span"/>
  </c:chart>
  <c:spPr>
    <a:solidFill>
      <a:srgbClr val="06161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DCE9E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DCE9ED"/>
                </a:solidFill>
                <a:latin typeface="Arial"/>
              </a:rPr>
              <a:t>Fleet utilisation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Fleet utilisation</c:v>
                </c:pt>
              </c:strCache>
            </c:strRef>
          </c:tx>
          <c:spPr>
            <a:solidFill>
              <a:srgbClr val="7EA0A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DCE9ED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EA0A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BE7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 redeployment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57.3</c:v>
                </c:pt>
                <c:pt idx="1">
                  <c:v>85.39999999999999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DCE9ED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EA0A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1E475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EA0AD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06161E"/>
        </a:solidFill>
        <a:ln>
          <a:noFill/>
        </a:ln>
        <a:effectLst/>
      </c:spPr>
    </c:plotArea>
    <c:plotVisOnly val="1"/>
    <c:dispBlanksAs val="span"/>
  </c:chart>
  <c:spPr>
    <a:solidFill>
      <a:srgbClr val="06161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15 seconds: name, what it does, the number. SentinelChain turns four disconnected feeds into one ranked decision queue. On the seeded demo dataset it defends ten million dollars of cargo value in a single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pain, in three sentences. Do not read the slide — say: a disruption is one event but hundreds of consequences; the fleet that could absorb it is sitting idle somewhere else; and the cold chain failure is discovered at the delivery door, which is the one moment you can do nothing about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it works, one screen. The agent never does arithmetic. It picks a tool. The four engines are deterministic Python — same inputs, same numbers, every time. That is what makes the output defensible to a regulator.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 one. The scoring formula is on the slide because judges will ask how we rank. Point out that 109 of 140 shipments are exposed — a raw list is useless, which is exactly why the score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 two, and the slide judges remember. Two points: doing nothing is scored as an option, so the model has to beat it; and air capacity is finite, so ten shipments got a cheaper-on-paper air option taken away from them. That constraint is what stops the demo from just flying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 three. The key insight: idle assets are not a separate problem. The re-route engine creates the demand — a box diverted via Durban needs a reefer at Durban — and the fleet engine fills it. That link is why the two features belong in one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 four. This is the differentiator. Say it plainly: a threshold alarm treats a twenty-minute door-open blip and a nine-hour reefer failure the same way, so operators learn to ignore alarms. Mean Kinetic Temperature is what a regulator actually asks for, and it is why our severity bands hold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don't tell. Open the dashboard here and run one query live. Suggested: 'which vaccine shipments have a temperature problem?' — it routes to analyse_cold_chain and returns the RED shipments with hours remaining.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Trust. Judges will probe whether an LLM is inventing numbers. The answer is that it cannot: it has read access to tools and write access to nothing except a proposal queue, and the arithmetic lives in tested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Integration. Say: the tool registry is written as JSON-schema function specs, so it drops onto Bob or any tool-calling runtime through one adapter. Nothing else in the codebase changes. The offline router exists so the demo runs with no network in this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Honesty slide. Judges trust a team that says what is not real. Be quick and matter-of-fact, then move to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number, then stop talking. The one-line version: we find the shipments that matter, we price the alternatives, we put the idle metal back to work, and we catch the cold-chain breach while there is still something to do about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2084832"/>
            <a:ext cx="118872" cy="118872"/>
          </a:xfrm>
          <a:prstGeom prst="ellipse">
            <a:avLst/>
          </a:prstGeom>
          <a:solidFill>
            <a:srgbClr val="6FD3E8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9536" y="1984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7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 L2 — Supply Chain Disruption Assistant &amp; Fleet Utilisation Optimizer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395728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SentinelChain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45643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turns four disconnected feeds into one ranked decision queue — and catches the cold-chain breach while the truck is still moving.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4572000"/>
            <a:ext cx="2377440" cy="1170432"/>
          </a:xfrm>
          <a:prstGeom prst="roundRect">
            <a:avLst>
              <a:gd name="adj" fmla="val 3125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" y="4700016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D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$9.99M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5248656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defended per run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54680" y="4572000"/>
            <a:ext cx="2377440" cy="1170432"/>
          </a:xfrm>
          <a:prstGeom prst="roundRect">
            <a:avLst>
              <a:gd name="adj" fmla="val 3125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55848" y="4700016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C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140</a:t>
            </a:r>
            <a:endParaRPr lang="en-US" sz="2500" dirty="0"/>
          </a:p>
        </p:txBody>
      </p:sp>
      <p:sp>
        <p:nvSpPr>
          <p:cNvPr id="12" name="Text 9"/>
          <p:cNvSpPr txBox="1"/>
          <p:nvPr/>
        </p:nvSpPr>
        <p:spPr>
          <a:xfrm>
            <a:off x="3355848" y="5248656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monitored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69280" y="4572000"/>
            <a:ext cx="2377440" cy="1170432"/>
          </a:xfrm>
          <a:prstGeom prst="roundRect">
            <a:avLst>
              <a:gd name="adj" fmla="val 3125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70448" y="4700016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D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of 10</a:t>
            </a:r>
            <a:endParaRPr lang="en-US" sz="2500" dirty="0"/>
          </a:p>
        </p:txBody>
      </p:sp>
      <p:sp>
        <p:nvSpPr>
          <p:cNvPr id="15" name="Text 12"/>
          <p:cNvSpPr txBox="1"/>
          <p:nvPr/>
        </p:nvSpPr>
        <p:spPr>
          <a:xfrm>
            <a:off x="5870448" y="5248656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breaches caught in transit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83880" y="4572000"/>
            <a:ext cx="2377440" cy="1170432"/>
          </a:xfrm>
          <a:prstGeom prst="roundRect">
            <a:avLst>
              <a:gd name="adj" fmla="val 3125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85048" y="4700016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D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+28.1 pts</a:t>
            </a:r>
            <a:endParaRPr lang="en-US" sz="2500" dirty="0"/>
          </a:p>
        </p:txBody>
      </p:sp>
      <p:sp>
        <p:nvSpPr>
          <p:cNvPr id="18" name="Text 15"/>
          <p:cNvSpPr txBox="1"/>
          <p:nvPr/>
        </p:nvSpPr>
        <p:spPr>
          <a:xfrm>
            <a:off x="8385048" y="5248656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utilisation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420624"/>
            <a:ext cx="100584" cy="100584"/>
          </a:xfrm>
          <a:prstGeom prst="ellipse">
            <a:avLst/>
          </a:prstGeom>
          <a:solidFill>
            <a:srgbClr val="E0435B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7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the problem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event, hundreds of consequences, zero visibility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37160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is happening at the same time, in four systems that do not talk to each other.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10881360" cy="1371600"/>
          </a:xfrm>
          <a:prstGeom prst="roundRect">
            <a:avLst>
              <a:gd name="adj" fmla="val 2667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32688" y="2432304"/>
            <a:ext cx="146304" cy="146304"/>
          </a:xfrm>
          <a:prstGeom prst="ellipse">
            <a:avLst/>
          </a:prstGeom>
          <a:solidFill>
            <a:srgbClr val="E0435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07008" y="23225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cascade is invisible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07008" y="2724912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Suez advisory is one headline. Underneath it sit 65 shipments, 21 of them temperature-controlled, spread across four carriers. Nobody can hand-trace that before the boxes move.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621024"/>
            <a:ext cx="10881360" cy="1371600"/>
          </a:xfrm>
          <a:prstGeom prst="roundRect">
            <a:avLst>
              <a:gd name="adj" fmla="val 2667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32688" y="3950208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207008" y="38404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fleet is idle in the wrong place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207008" y="4242816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assets sat past their idle threshold while other lanes ran short. The carrying cost was already spent — $89,931 of it — before anyone looked.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5138928"/>
            <a:ext cx="10881360" cy="1371600"/>
          </a:xfrm>
          <a:prstGeom prst="roundRect">
            <a:avLst>
              <a:gd name="adj" fmla="val 2667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32688" y="5468112"/>
            <a:ext cx="146304" cy="146304"/>
          </a:xfrm>
          <a:prstGeom prst="ellipse">
            <a:avLst/>
          </a:prstGeom>
          <a:solidFill>
            <a:srgbClr val="6FD3E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207008" y="53583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cold breach is found too late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207008" y="57607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excursion can spoil a $500K+ cargo. Today it surfaces at the delivery door, after the intervention window has closed and the batch record is already wrong.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420624"/>
            <a:ext cx="100584" cy="100584"/>
          </a:xfrm>
          <a:prstGeom prst="ellipse">
            <a:avLst/>
          </a:prstGeom>
          <a:solidFill>
            <a:srgbClr val="6FD3E8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7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how it works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agent, four deterministic engines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37160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decides which tool to call. The engines decide the numbers. Nothing in between.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057400"/>
            <a:ext cx="10881360" cy="868680"/>
          </a:xfrm>
          <a:prstGeom prst="roundRect">
            <a:avLst>
              <a:gd name="adj" fmla="val 4211"/>
            </a:avLst>
          </a:prstGeom>
          <a:solidFill>
            <a:srgbClr val="123342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05740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layer — intent routing, guardrails, approval thresholds, narration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20574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registered tools · JSON-schema specs · platform-agnostic adapter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3200400"/>
            <a:ext cx="2555748" cy="2286000"/>
          </a:xfrm>
          <a:prstGeom prst="roundRect">
            <a:avLst>
              <a:gd name="adj" fmla="val 1600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" y="3438144"/>
            <a:ext cx="137160" cy="137160"/>
          </a:xfrm>
          <a:prstGeom prst="ellipse">
            <a:avLst/>
          </a:prstGeom>
          <a:solidFill>
            <a:srgbClr val="6FD3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9536" y="3657600"/>
            <a:ext cx="21168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" y="4041648"/>
            <a:ext cx="21168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live disruptions to every shipment that still has to transit an affected node. Ranks by value, SLA headroom, fragility, severity, time-to-choke.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415284" y="3200400"/>
            <a:ext cx="2555748" cy="2286000"/>
          </a:xfrm>
          <a:prstGeom prst="roundRect">
            <a:avLst>
              <a:gd name="adj" fmla="val 1600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34740" y="3438144"/>
            <a:ext cx="137160" cy="137160"/>
          </a:xfrm>
          <a:prstGeom prst="ellipse">
            <a:avLst/>
          </a:prstGeom>
          <a:solidFill>
            <a:srgbClr val="2DBE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634740" y="3657600"/>
            <a:ext cx="21168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Re-route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634740" y="4041648"/>
            <a:ext cx="21168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hold / bypass / mode-shift options and scores each on expected total cost. Doing nothing always competes.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190488" y="3200400"/>
            <a:ext cx="2555748" cy="2286000"/>
          </a:xfrm>
          <a:prstGeom prst="roundRect">
            <a:avLst>
              <a:gd name="adj" fmla="val 1600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9944" y="3438144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09944" y="3657600"/>
            <a:ext cx="21168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409944" y="4041648"/>
            <a:ext cx="21168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assets idle past a kind-specific threshold and matches them to demand the re-route engine just created.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965692" y="3200400"/>
            <a:ext cx="2555748" cy="2286000"/>
          </a:xfrm>
          <a:prstGeom prst="roundRect">
            <a:avLst>
              <a:gd name="adj" fmla="val 1600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185148" y="3438144"/>
            <a:ext cx="137160" cy="137160"/>
          </a:xfrm>
          <a:prstGeom prst="ellipse">
            <a:avLst/>
          </a:prstGeom>
          <a:solidFill>
            <a:srgbClr val="E0435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185148" y="3657600"/>
            <a:ext cx="21168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chain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9185148" y="4041648"/>
            <a:ext cx="21168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MKT and time-out-of-range from IoT logs, consumes the product stability budget, assigns a regulatory severity band.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the agent speaks is a value an engine returned. The agent is replaceable; the arithmetic is not.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420624"/>
            <a:ext cx="100584" cy="100584"/>
          </a:xfrm>
          <a:prstGeom prst="ellipse">
            <a:avLst/>
          </a:prstGeom>
          <a:solidFill>
            <a:srgbClr val="6FD3E8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7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exposure engine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shipments does this disruption actually touch?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37160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shipment is exposed if any node it has not yet cleared is affected. Then it has to be ranked, or the list is noise.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5669280" cy="3429000"/>
          </a:xfrm>
          <a:prstGeom prst="roundRect">
            <a:avLst>
              <a:gd name="adj" fmla="val 1067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score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7432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risk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06240" y="2843784"/>
            <a:ext cx="1234440" cy="91440"/>
          </a:xfrm>
          <a:prstGeom prst="rect">
            <a:avLst/>
          </a:prstGeom>
          <a:solidFill>
            <a:srgbClr val="6FD3E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0" y="27432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EA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30%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2186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fragility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06240" y="3319272"/>
            <a:ext cx="905256" cy="91440"/>
          </a:xfrm>
          <a:prstGeom prst="rect">
            <a:avLst/>
          </a:prstGeom>
          <a:solidFill>
            <a:srgbClr val="6FD3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0" y="32186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EA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22%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941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 depth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206240" y="3794760"/>
            <a:ext cx="822960" cy="91440"/>
          </a:xfrm>
          <a:prstGeom prst="rect">
            <a:avLst/>
          </a:prstGeom>
          <a:solidFill>
            <a:srgbClr val="6FD3E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0" y="36941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EA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696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severity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206240" y="4270248"/>
            <a:ext cx="658368" cy="91440"/>
          </a:xfrm>
          <a:prstGeom prst="rect">
            <a:avLst/>
          </a:prstGeom>
          <a:solidFill>
            <a:srgbClr val="6FD3E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0" y="41696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EA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16%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6451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Time-to-choke × priority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206240" y="4745736"/>
            <a:ext cx="493776" cy="91440"/>
          </a:xfrm>
          <a:prstGeom prst="rect">
            <a:avLst/>
          </a:prstGeom>
          <a:solidFill>
            <a:srgbClr val="6FD3E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486400" y="46451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EA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12%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5029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Fragility is class-specific: a vaccine scores 1.00, an automotive casting 0.20.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583680" y="2103120"/>
            <a:ext cx="2377440" cy="1170432"/>
          </a:xfrm>
          <a:prstGeom prst="roundRect">
            <a:avLst>
              <a:gd name="adj" fmla="val 3125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84848" y="2231136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109 / 140</a:t>
            </a:r>
            <a:endParaRPr lang="en-US" sz="2500" dirty="0"/>
          </a:p>
        </p:txBody>
      </p:sp>
      <p:sp>
        <p:nvSpPr>
          <p:cNvPr id="27" name="Text 24"/>
          <p:cNvSpPr txBox="1"/>
          <p:nvPr/>
        </p:nvSpPr>
        <p:spPr>
          <a:xfrm>
            <a:off x="6784848" y="2779776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exposed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98280" y="2103120"/>
            <a:ext cx="2377440" cy="1170432"/>
          </a:xfrm>
          <a:prstGeom prst="roundRect">
            <a:avLst>
              <a:gd name="adj" fmla="val 3125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99448" y="2231136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$48.91M</a:t>
            </a:r>
            <a:endParaRPr lang="en-US" sz="2500" dirty="0"/>
          </a:p>
        </p:txBody>
      </p:sp>
      <p:sp>
        <p:nvSpPr>
          <p:cNvPr id="30" name="Text 27"/>
          <p:cNvSpPr txBox="1"/>
          <p:nvPr/>
        </p:nvSpPr>
        <p:spPr>
          <a:xfrm>
            <a:off x="9299448" y="2779776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risk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83680" y="3474720"/>
            <a:ext cx="4892040" cy="1828800"/>
          </a:xfrm>
          <a:prstGeom prst="roundRect">
            <a:avLst>
              <a:gd name="adj" fmla="val 2000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39712" y="36393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incident right now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6839712" y="396849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Sea transit advisory — Suez routings diverting via Cape of Good Hope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839712" y="4617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A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 shipments  ·  $27.57M at risk  ·  21 cold-chain  ·  65 SLA breaches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420624"/>
            <a:ext cx="100584" cy="100584"/>
          </a:xfrm>
          <a:prstGeom prst="ellipse">
            <a:avLst/>
          </a:prstGeom>
          <a:solidFill>
            <a:srgbClr val="2DBE7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7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re-route engine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option competes against doing nothing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37160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total cost = SLA penalty + spoilage risk + incremental freight. Lowest wins.</a:t>
            </a:r>
            <a:endParaRPr lang="en-US" sz="14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103120"/>
          <a:ext cx="5760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6675120" y="2103120"/>
            <a:ext cx="4846320" cy="1417320"/>
          </a:xfrm>
          <a:prstGeom prst="roundRect">
            <a:avLst>
              <a:gd name="adj" fmla="val 2581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931152" y="22677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constraint that keeps it honest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931152" y="2596896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freight capacity is finite. We allocate it to the shipments where it buys the most, and 10 shipments fell back to a surface option after it ran out.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675120" y="3794760"/>
            <a:ext cx="4846320" cy="1645920"/>
          </a:xfrm>
          <a:prstGeom prst="roundRect">
            <a:avLst>
              <a:gd name="adj" fmla="val 2222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931152" y="39593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Worked example — SHP-80050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931152" y="4251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to Qatar Air Cargo (air)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931152" y="459943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$13,167 more in freight. Saves $578,196 against holding. Confidence 93%.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B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saved across the decision queue: $3,416,883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42062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7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fleet engine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assets are not a separate problem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37160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re-route engine creates the demand. The fleet engine fills it with metal that was already paid for.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2606040" cy="1170432"/>
          </a:xfrm>
          <a:prstGeom prst="roundRect">
            <a:avLst>
              <a:gd name="adj" fmla="val 3125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" y="2231136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779776"/>
            <a:ext cx="2203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idle past threshold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103120"/>
            <a:ext cx="2606040" cy="1170432"/>
          </a:xfrm>
          <a:prstGeom prst="roundRect">
            <a:avLst>
              <a:gd name="adj" fmla="val 3125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84448" y="2231136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043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$89,931</a:t>
            </a:r>
            <a:endParaRPr lang="en-US" sz="2500" dirty="0"/>
          </a:p>
        </p:txBody>
      </p:sp>
      <p:sp>
        <p:nvSpPr>
          <p:cNvPr id="12" name="Text 9"/>
          <p:cNvSpPr txBox="1"/>
          <p:nvPr/>
        </p:nvSpPr>
        <p:spPr>
          <a:xfrm>
            <a:off x="3584448" y="2779776"/>
            <a:ext cx="2203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cost already burned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26480" y="2103120"/>
            <a:ext cx="2606040" cy="1170432"/>
          </a:xfrm>
          <a:prstGeom prst="roundRect">
            <a:avLst>
              <a:gd name="adj" fmla="val 3125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27648" y="2231136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D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2500" dirty="0"/>
          </a:p>
        </p:txBody>
      </p:sp>
      <p:sp>
        <p:nvSpPr>
          <p:cNvPr id="15" name="Text 12"/>
          <p:cNvSpPr txBox="1"/>
          <p:nvPr/>
        </p:nvSpPr>
        <p:spPr>
          <a:xfrm>
            <a:off x="6327648" y="2779776"/>
            <a:ext cx="2203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redeployed this cycle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869680" y="2103120"/>
            <a:ext cx="2651760" cy="1170432"/>
          </a:xfrm>
          <a:prstGeom prst="roundRect">
            <a:avLst>
              <a:gd name="adj" fmla="val 3125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070848" y="2231136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D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$401,276</a:t>
            </a:r>
            <a:endParaRPr lang="en-US" sz="2500" dirty="0"/>
          </a:p>
        </p:txBody>
      </p:sp>
      <p:sp>
        <p:nvSpPr>
          <p:cNvPr id="18" name="Text 15"/>
          <p:cNvSpPr txBox="1"/>
          <p:nvPr/>
        </p:nvSpPr>
        <p:spPr>
          <a:xfrm>
            <a:off x="9070848" y="2779776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value recovered</a:t>
            </a:r>
            <a:endParaRPr lang="en-US" sz="11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40080" y="3566160"/>
          <a:ext cx="53949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6"/>
          <p:cNvSpPr/>
          <p:nvPr/>
        </p:nvSpPr>
        <p:spPr>
          <a:xfrm>
            <a:off x="6400800" y="3566160"/>
            <a:ext cx="5120640" cy="2286000"/>
          </a:xfrm>
          <a:prstGeom prst="roundRect">
            <a:avLst>
              <a:gd name="adj" fmla="val 1600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675120" y="37490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match is made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675120" y="4206240"/>
            <a:ext cx="4572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reroute raises a demand signal: reefer box, this node, within 72h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filtered on reefer capability, capacity and a 4,500km radius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on value released minus repositioning cost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already at the node move for nothing and win outright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420624"/>
            <a:ext cx="100584" cy="100584"/>
          </a:xfrm>
          <a:prstGeom prst="ellipse">
            <a:avLst/>
          </a:prstGeom>
          <a:solidFill>
            <a:srgbClr val="E0435B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7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cold chain engine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alarm. A classification a regulator would accept.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37160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Kinetic Temperature plus cumulative time-out-of-range, consumed against the product's own stability budget.</a:t>
            </a:r>
            <a:endParaRPr lang="en-US" sz="1450" dirty="0"/>
          </a:p>
        </p:txBody>
      </p:sp>
      <p:pic>
        <p:nvPicPr>
          <p:cNvPr id="7" name="Image 0" descr="/home/claude/sentinelchain/out/fig_t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57400"/>
            <a:ext cx="6949440" cy="24323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863840" y="2057400"/>
            <a:ext cx="3657600" cy="566928"/>
          </a:xfrm>
          <a:prstGeom prst="roundRect">
            <a:avLst>
              <a:gd name="adj" fmla="val 6452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065008" y="2286000"/>
            <a:ext cx="118872" cy="118872"/>
          </a:xfrm>
          <a:prstGeom prst="ellipse">
            <a:avLst/>
          </a:prstGeom>
          <a:solidFill>
            <a:srgbClr val="E0435B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266176" y="205740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43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9144000" y="20574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9601200" y="20574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distribute. Recall workflow.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863840" y="2715768"/>
            <a:ext cx="3657600" cy="566928"/>
          </a:xfrm>
          <a:prstGeom prst="roundRect">
            <a:avLst>
              <a:gd name="adj" fmla="val 6452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065008" y="2944368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266176" y="271576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ORANGE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9144000" y="27157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9601200" y="27157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Quarantine. Stability assessment.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863840" y="3374136"/>
            <a:ext cx="3657600" cy="566928"/>
          </a:xfrm>
          <a:prstGeom prst="roundRect">
            <a:avLst>
              <a:gd name="adj" fmla="val 6452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65008" y="3602736"/>
            <a:ext cx="118872" cy="118872"/>
          </a:xfrm>
          <a:prstGeom prst="ellipse">
            <a:avLst/>
          </a:prstGeom>
          <a:solidFill>
            <a:srgbClr val="D8A55C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266176" y="337413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8A5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AMBER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9144000" y="33741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9601200" y="337413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with deviation note.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7863840" y="4032504"/>
            <a:ext cx="3657600" cy="566928"/>
          </a:xfrm>
          <a:prstGeom prst="roundRect">
            <a:avLst>
              <a:gd name="adj" fmla="val 6452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065008" y="4261104"/>
            <a:ext cx="118872" cy="118872"/>
          </a:xfrm>
          <a:prstGeom prst="ellipse">
            <a:avLst/>
          </a:prstGeom>
          <a:solidFill>
            <a:srgbClr val="2DBE7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8266176" y="403250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9144000" y="40325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9601200" y="403250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Auto-release to batch record.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40080" y="4645152"/>
            <a:ext cx="6949440" cy="1207008"/>
          </a:xfrm>
          <a:prstGeom prst="roundRect">
            <a:avLst>
              <a:gd name="adj" fmla="val 3030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914400" y="47731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MKT and not a threshold alarm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914400" y="5084064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threshold alarm fires the same way for a 20-minute door-open blip and a 9-hour reefer failure, so operators learn to ignore it. MKT is the single isothermal temperature that would degrade the product as much as the real profile did — it separates the two, and it is the number a regulator asks for.</a:t>
            </a:r>
            <a:endParaRPr lang="en-US" sz="1150" dirty="0"/>
          </a:p>
        </p:txBody>
      </p:sp>
      <p:sp>
        <p:nvSpPr>
          <p:cNvPr id="31" name="Text 27"/>
          <p:cNvSpPr txBox="1"/>
          <p:nvPr/>
        </p:nvSpPr>
        <p:spPr>
          <a:xfrm>
            <a:off x="7863840" y="48006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DB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10 flagged shipments were caught while still in transit — $6.17M of cargo with the intervention window still open.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420624"/>
            <a:ext cx="100584" cy="100584"/>
          </a:xfrm>
          <a:prstGeom prst="ellipse">
            <a:avLst/>
          </a:prstGeom>
          <a:solidFill>
            <a:srgbClr val="6FD3E8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7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the product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screen, four answers, no dashboards to stitch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37160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language. The agent picks the tool and quotes what the engine returned.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10881360" cy="1170432"/>
          </a:xfrm>
          <a:prstGeom prst="roundRect">
            <a:avLst>
              <a:gd name="adj" fmla="val 3125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32688" y="22951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vaccine shipments have a temperature problem?”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229514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E043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→ analyse_cold_chain()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2697480"/>
            <a:ext cx="10296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RED and ORANGE shipments with MKT, budget consumed, hours to delivery and the required disposition.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465576"/>
            <a:ext cx="10881360" cy="1170432"/>
          </a:xfrm>
          <a:prstGeom prst="roundRect">
            <a:avLst>
              <a:gd name="adj" fmla="val 3125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361188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should I do about the Suez diversion?”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3611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→ assess_disruption_impact()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932688" y="4014216"/>
            <a:ext cx="10296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exposed shipments ranked, with the node that blocks each one and how many days until it gets there.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4782312"/>
            <a:ext cx="10881360" cy="1170432"/>
          </a:xfrm>
          <a:prstGeom prst="roundRect">
            <a:avLst>
              <a:gd name="adj" fmla="val 3125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32688" y="492861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“Any idle containers I can redeploy?”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0" y="49286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→ propose_redeployment()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932688" y="5330952"/>
            <a:ext cx="10296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matched assets with distance, cost to move, idle days ended and net benefit.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144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sentinelchain_dashboard.html — single file, opens offline, no server, no keys.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420624"/>
            <a:ext cx="100584" cy="100584"/>
          </a:xfrm>
          <a:prstGeom prst="ellipse">
            <a:avLst/>
          </a:prstGeom>
          <a:solidFill>
            <a:srgbClr val="6FD3E8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7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trust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proposes. It never moves freight.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37160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live in code, not in the prompt — a prompt can be talked out of a rule.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5312664" cy="1536192"/>
          </a:xfrm>
          <a:prstGeom prst="roundRect">
            <a:avLst>
              <a:gd name="adj" fmla="val 2381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331720"/>
            <a:ext cx="4764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arithmetic in the model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715768"/>
            <a:ext cx="4764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comes from a deterministic engine. Same inputs, same output, every run — which is what an audit needs.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08776" y="2148840"/>
            <a:ext cx="5312664" cy="1536192"/>
          </a:xfrm>
          <a:prstGeom prst="roundRect">
            <a:avLst>
              <a:gd name="adj" fmla="val 2381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83096" y="2331720"/>
            <a:ext cx="4764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thresholds are hard-coded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83096" y="2715768"/>
            <a:ext cx="4764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above $25,000 incremental spend, anything touching a vaccine or frozen biologic, and every RED disposition is a proposal that waits for a human.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3886200"/>
            <a:ext cx="5312664" cy="1536192"/>
          </a:xfrm>
          <a:prstGeom prst="roundRect">
            <a:avLst>
              <a:gd name="adj" fmla="val 2381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4069080"/>
            <a:ext cx="4764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recommendation carries its numbers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4453128"/>
            <a:ext cx="4764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delta versus doing nothing, the assumption that drove it, and a confidence. No unexplained ranking.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08776" y="3886200"/>
            <a:ext cx="5312664" cy="1536192"/>
          </a:xfrm>
          <a:prstGeom prst="roundRect">
            <a:avLst>
              <a:gd name="adj" fmla="val 2381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83096" y="4069080"/>
            <a:ext cx="4764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access is a proposal queue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483096" y="4453128"/>
            <a:ext cx="4764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 read every system and change none of them. Notices are drafted, never sent.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7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of 25 recommendations in this run were held for human sign-off.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420624"/>
            <a:ext cx="100584" cy="100584"/>
          </a:xfrm>
          <a:prstGeom prst="ellipse">
            <a:avLst/>
          </a:prstGeom>
          <a:solidFill>
            <a:srgbClr val="6FD3E8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7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integration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drop onto Bob, or anything else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37160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tools, written as standard JSON-schema function specs, behind one swappable adapter.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5486400" cy="3749040"/>
          </a:xfrm>
          <a:prstGeom prst="roundRect">
            <a:avLst>
              <a:gd name="adj" fmla="val 976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2677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tools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6700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assess_disruption_impact()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944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every shipment still facing an affected node.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2369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recommend_reroute()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5112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hold, bypass and mode-shift on expected total cost.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8039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find_idle_assets()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40782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assets idle past threshold, with carrying cost.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43708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propose_redeployment()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6451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idle metal to the demand a reroute just created.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9377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analyse_cold_chain()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5212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MKT, time-out-of-range and severity band.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55046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draft_stakeholder_notice()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57790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customer, QA or carrier notice. Never sends.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00800" y="2103120"/>
            <a:ext cx="5120640" cy="1737360"/>
          </a:xfrm>
          <a:prstGeom prst="roundRect">
            <a:avLst>
              <a:gd name="adj" fmla="val 2105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75120" y="22677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seam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675120" y="2596896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PlatformAdapter needs one method: call_model(system, messages, tools). Implement it against Bob's runtime and the engines, guardrails and dashboard are unchanged. A deterministic offline router ships alongside it so the demo runs with no network.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400800" y="3977640"/>
            <a:ext cx="5120640" cy="1874520"/>
          </a:xfrm>
          <a:prstGeom prst="roundRect">
            <a:avLst>
              <a:gd name="adj" fmla="val 1951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675120" y="41422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data, day one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675120" y="4462272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and lanes: TMS export or EDI 214 / IFTSTA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Disruptions: carrier advisories, port bulletins, weather APIs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Fleet: telematics feed, keyed on asset ID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chain: reefer IoT loggers over MQTT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420624"/>
            <a:ext cx="100584" cy="100584"/>
          </a:xfrm>
          <a:prstGeom prst="ellipse">
            <a:avLst/>
          </a:prstGeom>
          <a:solidFill>
            <a:srgbClr val="4E7183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7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what is real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real, and what is not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37160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synthetic and seeded. Everything computed on top of it is production logic.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5303520" cy="3200400"/>
          </a:xfrm>
          <a:prstGeom prst="roundRect">
            <a:avLst>
              <a:gd name="adj" fmla="val 1143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3317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B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724912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engines, end to end, in tested Python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 computed to the ICH convention, not approximated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rules mapped to named regulatory clauses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 with a real trade-off, including a capacity constraint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tool registry, guardrails and approval thresholds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dashboard that runs with no server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2148840"/>
            <a:ext cx="5303520" cy="3200400"/>
          </a:xfrm>
          <a:prstGeom prst="roundRect">
            <a:avLst>
              <a:gd name="adj" fmla="val 1143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23317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724912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carrier and telematics connectors — dataset is seeded synthetic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space is assumed available at the quoted index, not booked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budgets are per class, not per product SKU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matching is greedy, not a solved optimum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write-back to TMS; proposals stop at the queue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the left column runs in front of you. Nothing in this deck is a mock-up.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6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420624"/>
            <a:ext cx="100584" cy="100584"/>
          </a:xfrm>
          <a:prstGeom prst="ellipse">
            <a:avLst/>
          </a:prstGeom>
          <a:solidFill>
            <a:srgbClr val="2DBE7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7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the result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DC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run. One operator. Four decisions that used to take a day.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5146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D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$9.99M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8404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cargo value defended in a single control-tower run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949440" y="2514600"/>
            <a:ext cx="4572000" cy="841248"/>
          </a:xfrm>
          <a:prstGeom prst="roundRect">
            <a:avLst>
              <a:gd name="adj" fmla="val 4348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223760" y="2514600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Re-routing decisions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692640" y="2514600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DB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$3.42M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949440" y="3483864"/>
            <a:ext cx="4572000" cy="841248"/>
          </a:xfrm>
          <a:prstGeom prst="roundRect">
            <a:avLst>
              <a:gd name="adj" fmla="val 4348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23760" y="3483864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caught in transit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692640" y="3483864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$6.17M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949440" y="4453128"/>
            <a:ext cx="4572000" cy="841248"/>
          </a:xfrm>
          <a:prstGeom prst="roundRect">
            <a:avLst>
              <a:gd name="adj" fmla="val 4348"/>
            </a:avLst>
          </a:prstGeom>
          <a:solidFill>
            <a:srgbClr val="0D2733"/>
          </a:solidFill>
          <a:ln w="12700">
            <a:solidFill>
              <a:srgbClr val="1E475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23760" y="4453128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redeployment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692640" y="4453128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$401k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7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SentinelChain  ·  Challenge L2  ·  run python run_demo.py, then open out/sentinelchain_dashboard.html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SentinelChain — Supply Chain Disruption Assistant &amp; Fleet Utilisation Optimizer</dc:title>
  <dc:subject>PptxGenJS Presentation</dc:subject>
  <dc:creator>SentinelChain</dc:creator>
  <cp:lastModifiedBy>SentinelChain</cp:lastModifiedBy>
  <cp:revision>1</cp:revision>
  <dcterms:created xsi:type="dcterms:W3CDTF">2026-09-15T15:25:49Z</dcterms:created>
  <dcterms:modified xsi:type="dcterms:W3CDTF">2026-09-15T15:25:49Z</dcterms:modified>
</cp:coreProperties>
</file>